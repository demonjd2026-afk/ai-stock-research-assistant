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66360" y="640080"/>
            <a:ext cx="1828800" cy="18288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6636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📈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Stock Market Research Assistant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35204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AI Bootcamp Capstone — Project #4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4005072"/>
            <a:ext cx="9418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market data  ·  Semantic RAG  ·  10-tool AI Agent  ·  Live Databricks App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035040"/>
            <a:ext cx="121615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Jayanth Dolai  ·  Senior Data Engineer  ·  6+ years Azure · Databricks · Microsoft Fabric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Certifications: Databricks DE Associate · DP-700 · DP-600 · DP-900 · Generative AI Associate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Requirements Coverage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94944"/>
            <a:ext cx="11247120" cy="22860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15568"/>
            <a:ext cx="566928" cy="566928"/>
          </a:xfrm>
          <a:prstGeom prst="ellipse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1556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34440" y="11155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Data Pipeline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5544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→ Silver → Gold medallion architecture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 ingestion from Polygon REST API · 20 tickers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79392" y="9144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62272" y="1115568"/>
            <a:ext cx="566928" cy="566928"/>
          </a:xfrm>
          <a:prstGeom prst="ellipse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111556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48072" y="11155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API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48072" y="15544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Massive/Polygon API — OHLCV · Fundamentals · News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confirmed: AAPL $303, NVDA +4.53%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93024" y="9144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5904" y="1115568"/>
            <a:ext cx="566928" cy="566928"/>
          </a:xfrm>
          <a:prstGeom prst="ellipse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75904" y="111556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061704" y="11155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Data + RAG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061704" y="15544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 Large embeddings on news articles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AI Search · semantic similarity_search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310128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511296"/>
            <a:ext cx="566928" cy="566928"/>
          </a:xfrm>
          <a:prstGeom prst="ellipse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51129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234440" y="351129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App + Frontend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3950208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Gradio UI on Databricks Apps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3-column layout: Suggestions · Chat · Market data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79392" y="3310128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62272" y="3511296"/>
            <a:ext cx="566928" cy="566928"/>
          </a:xfrm>
          <a:prstGeom prst="ellipse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62272" y="351129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148072" y="351129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with Read + Write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48072" y="3950208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tools: 6 read + 4 write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5-round agentic loop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93024" y="3310128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5904" y="3511296"/>
            <a:ext cx="566928" cy="566928"/>
          </a:xfrm>
          <a:prstGeom prst="ellipse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75904" y="351129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9061704" y="351129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Lakebase CDF → Delta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061704" y="3950208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CDF on Silver tables (identical concept)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main.analytics.cdf_events · 50 events captured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94944"/>
            <a:ext cx="11247120" cy="22860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2011680" cy="1051560"/>
          </a:xfrm>
          <a:prstGeom prst="roundRect">
            <a:avLst>
              <a:gd name="adj" fmla="val 8696"/>
            </a:avLst>
          </a:prstGeom>
          <a:solidFill>
            <a:srgbClr val="F59E0B"/>
          </a:solidFill>
          <a:ln w="12700">
            <a:solidFill>
              <a:srgbClr val="475569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005840"/>
            <a:ext cx="18653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API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34640" y="1005840"/>
            <a:ext cx="2011680" cy="1051560"/>
          </a:xfrm>
          <a:prstGeom prst="roundRect">
            <a:avLst>
              <a:gd name="adj" fmla="val 8696"/>
            </a:avLst>
          </a:prstGeom>
          <a:solidFill>
            <a:srgbClr val="1E3A5F"/>
          </a:solidFill>
          <a:ln w="12700">
            <a:solidFill>
              <a:srgbClr val="475569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07792" y="1005840"/>
            <a:ext cx="18653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(append)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303520" y="1005840"/>
            <a:ext cx="2011680" cy="1051560"/>
          </a:xfrm>
          <a:prstGeom prst="roundRect">
            <a:avLst>
              <a:gd name="adj" fmla="val 8696"/>
            </a:avLst>
          </a:prstGeom>
          <a:solidFill>
            <a:srgbClr val="1E3A5F"/>
          </a:solidFill>
          <a:ln w="12700">
            <a:solidFill>
              <a:srgbClr val="475569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6672" y="1005840"/>
            <a:ext cx="18653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(overwrite)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0" y="1005840"/>
            <a:ext cx="2011680" cy="1051560"/>
          </a:xfrm>
          <a:prstGeom prst="roundRect">
            <a:avLst>
              <a:gd name="adj" fmla="val 8696"/>
            </a:avLst>
          </a:prstGeom>
          <a:solidFill>
            <a:srgbClr val="1E3A5F"/>
          </a:solidFill>
          <a:ln w="12700">
            <a:solidFill>
              <a:srgbClr val="475569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45552" y="1005840"/>
            <a:ext cx="18653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(overwrite)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149840" y="100584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6366F1"/>
          </a:solidFill>
          <a:ln w="12700">
            <a:solidFill>
              <a:srgbClr val="475569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22992" y="1005840"/>
            <a:ext cx="168249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395728" y="1426464"/>
            <a:ext cx="411480" cy="1097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32588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64608" y="1426464"/>
            <a:ext cx="411480" cy="1097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132588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33488" y="1426464"/>
            <a:ext cx="411480" cy="1097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0" y="132588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802368" y="1426464"/>
            <a:ext cx="411480" cy="1097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0" y="132588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3291840"/>
            <a:ext cx="3200400" cy="960120"/>
          </a:xfrm>
          <a:prstGeom prst="roundRect">
            <a:avLst>
              <a:gd name="adj" fmla="val 9524"/>
            </a:avLst>
          </a:prstGeom>
          <a:solidFill>
            <a:srgbClr val="14532A"/>
          </a:solidFill>
          <a:ln w="12700">
            <a:solidFill>
              <a:srgbClr val="475569">
                <a:alpha val="6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291840"/>
            <a:ext cx="3017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Lakebase (Postgres 17)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tables · CDF enabled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840480" y="3291840"/>
            <a:ext cx="3200400" cy="960120"/>
          </a:xfrm>
          <a:prstGeom prst="roundRect">
            <a:avLst>
              <a:gd name="adj" fmla="val 9524"/>
            </a:avLst>
          </a:prstGeom>
          <a:solidFill>
            <a:srgbClr val="3B2C5E"/>
          </a:solidFill>
          <a:ln w="12700">
            <a:solidFill>
              <a:srgbClr val="475569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0" y="3291840"/>
            <a:ext cx="3017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AI Search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 Large · Delta Sync index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269480" y="3291840"/>
            <a:ext cx="3200400" cy="960120"/>
          </a:xfrm>
          <a:prstGeom prst="roundRect">
            <a:avLst>
              <a:gd name="adj" fmla="val 9524"/>
            </a:avLst>
          </a:prstGeom>
          <a:solidFill>
            <a:srgbClr val="1E3A5F"/>
          </a:solidFill>
          <a:ln w="12700">
            <a:solidFill>
              <a:srgbClr val="475569">
                <a:alpha val="6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3291840"/>
            <a:ext cx="3017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CDF → Delta Analytics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main.analytics.cdf_events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0698480" y="3291840"/>
            <a:ext cx="1280160" cy="960120"/>
          </a:xfrm>
          <a:prstGeom prst="roundRect">
            <a:avLst>
              <a:gd name="adj" fmla="val 9524"/>
            </a:avLst>
          </a:prstGeom>
          <a:solidFill>
            <a:srgbClr val="1A3A52"/>
          </a:solidFill>
          <a:ln w="12700">
            <a:solidFill>
              <a:srgbClr val="475569">
                <a:alpha val="6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789920" y="3291840"/>
            <a:ext cx="1097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(Gradio)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741664" y="2066544"/>
            <a:ext cx="91440" cy="1225296"/>
          </a:xfrm>
          <a:prstGeom prst="rect">
            <a:avLst/>
          </a:prstGeom>
          <a:solidFill>
            <a:srgbClr val="94A3B8">
              <a:alpha val="60000"/>
            </a:srgbClr>
          </a:solidFill>
          <a:ln w="12700">
            <a:solidFill>
              <a:srgbClr val="94A3B8">
                <a:alpha val="6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27664" y="2066544"/>
            <a:ext cx="91440" cy="1225296"/>
          </a:xfrm>
          <a:prstGeom prst="rect">
            <a:avLst/>
          </a:prstGeom>
          <a:solidFill>
            <a:srgbClr val="94A3B8">
              <a:alpha val="60000"/>
            </a:srgbClr>
          </a:solidFill>
          <a:ln w="12700">
            <a:solidFill>
              <a:srgbClr val="94A3B8">
                <a:alpha val="6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4709160"/>
            <a:ext cx="1389888" cy="347472"/>
          </a:xfrm>
          <a:prstGeom prst="roundRect">
            <a:avLst>
              <a:gd name="adj" fmla="val 21053"/>
            </a:avLst>
          </a:prstGeom>
          <a:solidFill>
            <a:srgbClr val="162032"/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709160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856232" y="4709160"/>
            <a:ext cx="1389888" cy="347472"/>
          </a:xfrm>
          <a:prstGeom prst="roundRect">
            <a:avLst>
              <a:gd name="adj" fmla="val 21053"/>
            </a:avLst>
          </a:prstGeom>
          <a:solidFill>
            <a:srgbClr val="162032"/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56232" y="4709160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Lake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46704" y="4709160"/>
            <a:ext cx="1389888" cy="347472"/>
          </a:xfrm>
          <a:prstGeom prst="roundRect">
            <a:avLst>
              <a:gd name="adj" fmla="val 21053"/>
            </a:avLst>
          </a:prstGeom>
          <a:solidFill>
            <a:srgbClr val="162032"/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46704" y="4709160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Catalog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37176" y="4709160"/>
            <a:ext cx="1389888" cy="347472"/>
          </a:xfrm>
          <a:prstGeom prst="roundRect">
            <a:avLst>
              <a:gd name="adj" fmla="val 21053"/>
            </a:avLst>
          </a:prstGeom>
          <a:solidFill>
            <a:srgbClr val="162032"/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37176" y="4709160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327648" y="4709160"/>
            <a:ext cx="1389888" cy="347472"/>
          </a:xfrm>
          <a:prstGeom prst="roundRect">
            <a:avLst>
              <a:gd name="adj" fmla="val 21053"/>
            </a:avLst>
          </a:prstGeom>
          <a:solidFill>
            <a:srgbClr val="162032"/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27648" y="4709160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Lakebase Postgres 17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818120" y="4709160"/>
            <a:ext cx="1389888" cy="347472"/>
          </a:xfrm>
          <a:prstGeom prst="roundRect">
            <a:avLst>
              <a:gd name="adj" fmla="val 21053"/>
            </a:avLst>
          </a:prstGeom>
          <a:solidFill>
            <a:srgbClr val="162032"/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818120" y="4709160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9308592" y="4709160"/>
            <a:ext cx="1389888" cy="347472"/>
          </a:xfrm>
          <a:prstGeom prst="roundRect">
            <a:avLst>
              <a:gd name="adj" fmla="val 21053"/>
            </a:avLst>
          </a:prstGeom>
          <a:solidFill>
            <a:srgbClr val="162032"/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08592" y="4709160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Workflows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0799064" y="4709160"/>
            <a:ext cx="1389888" cy="347472"/>
          </a:xfrm>
          <a:prstGeom prst="roundRect">
            <a:avLst>
              <a:gd name="adj" fmla="val 21053"/>
            </a:avLst>
          </a:prstGeom>
          <a:solidFill>
            <a:srgbClr val="162032"/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799064" y="4709160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Data Pipeline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94944"/>
            <a:ext cx="11247120" cy="22860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68680"/>
            <a:ext cx="3657600" cy="50292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868680"/>
            <a:ext cx="3657600" cy="658368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68680"/>
            <a:ext cx="3383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🥉  BRONZE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15819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· Append-only · Full raw_json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3246120" cy="347472"/>
          </a:xfrm>
          <a:prstGeom prst="roundRect">
            <a:avLst>
              <a:gd name="adj" fmla="val 15789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331720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raw_companies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770632"/>
            <a:ext cx="3246120" cy="347472"/>
          </a:xfrm>
          <a:prstGeom prst="roundRect">
            <a:avLst>
              <a:gd name="adj" fmla="val 15789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770632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raw_price_snapshots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209544"/>
            <a:ext cx="3246120" cy="347472"/>
          </a:xfrm>
          <a:prstGeom prst="roundRect">
            <a:avLst>
              <a:gd name="adj" fmla="val 15789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209544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raw_news_articles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PySpark ingestion from Polygon REST API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 tickers × 3 endpoints per run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batch_id tracking for lineage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13s rate-limit sleep (free tier)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868680"/>
            <a:ext cx="3657600" cy="50292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97680" y="868680"/>
            <a:ext cx="3657600" cy="658368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34840" y="868680"/>
            <a:ext cx="3383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🥈  SILVER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480560" y="15819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· Typed · Enriched · Deduplicated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480560" y="2011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Tables: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80560" y="2331720"/>
            <a:ext cx="3246120" cy="347472"/>
          </a:xfrm>
          <a:prstGeom prst="roundRect">
            <a:avLst>
              <a:gd name="adj" fmla="val 15789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331720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0560" y="2770632"/>
            <a:ext cx="3246120" cy="347472"/>
          </a:xfrm>
          <a:prstGeom prst="roundRect">
            <a:avLst>
              <a:gd name="adj" fmla="val 15789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2770632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price_snapshots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80560" y="3209544"/>
            <a:ext cx="3246120" cy="347472"/>
          </a:xfrm>
          <a:prstGeom prst="roundRect">
            <a:avLst>
              <a:gd name="adj" fmla="val 15789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3209544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news_articles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480560" y="3648456"/>
            <a:ext cx="3246120" cy="347472"/>
          </a:xfrm>
          <a:prstGeom prst="roundRect">
            <a:avLst>
              <a:gd name="adj" fmla="val 15789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3648456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news_for_search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480560" y="416052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ROW_NUMBER() dedup by (ticker, date)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Explicit float/int casting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Derived: daily_return_pct, price_range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Latest snapshot_date per ticker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0" y="868680"/>
            <a:ext cx="3657600" cy="50292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0" y="868680"/>
            <a:ext cx="3657600" cy="658368"/>
          </a:xfrm>
          <a:prstGeom prst="rect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66760" y="868680"/>
            <a:ext cx="3383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🥇  GOLD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412480" y="15819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Analytics-ready · Aggregated · Ranked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412480" y="2011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Tables: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12480" y="2331720"/>
            <a:ext cx="3246120" cy="347472"/>
          </a:xfrm>
          <a:prstGeom prst="roundRect">
            <a:avLst>
              <a:gd name="adj" fmla="val 15789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49640" y="2331720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ticker_daily_summary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412480" y="2770632"/>
            <a:ext cx="3246120" cy="347472"/>
          </a:xfrm>
          <a:prstGeom prst="roundRect">
            <a:avLst>
              <a:gd name="adj" fmla="val 15789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49640" y="2770632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sentiment_summary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412480" y="3209544"/>
            <a:ext cx="3246120" cy="347472"/>
          </a:xfrm>
          <a:prstGeom prst="roundRect">
            <a:avLst>
              <a:gd name="adj" fmla="val 15789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49640" y="3209544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sector_rankings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412480" y="3648456"/>
            <a:ext cx="3246120" cy="347472"/>
          </a:xfrm>
          <a:prstGeom prst="roundRect">
            <a:avLst>
              <a:gd name="adj" fmla="val 15789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49640" y="3648456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top_movers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412480" y="416052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Price + company + sentiment joined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BULLISH / NEUTRAL / BEARISH signal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Sector market cap rankings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GAINER / LOSER / FLAT movers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886200" y="3246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</a:rPr>
              <a:t>▶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818120" y="3246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0B981"/>
                </a:solidFill>
              </a:rPr>
              <a:t>▶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— 10 Tools (6 Read + 4 Write)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94944"/>
            <a:ext cx="11247120" cy="22860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11247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databricks-meta-llama-3-3-70b-instruct  ·  Pattern: OpenAI-compatible function calling  ·  Max 5-round agentic loop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6858000" cy="411480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53312"/>
            <a:ext cx="6492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Tools (6)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6583680" cy="475488"/>
          </a:xfrm>
          <a:prstGeom prst="roundRect">
            <a:avLst>
              <a:gd name="adj" fmla="val 13462"/>
            </a:avLst>
          </a:prstGeom>
          <a:solidFill>
            <a:srgbClr val="0D2A1C"/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2880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get_price_data(ticker)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0400" y="182880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main.gold.ticker_daily_summary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166360" y="1828800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price, return %, market cap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395728"/>
            <a:ext cx="6583680" cy="475488"/>
          </a:xfrm>
          <a:prstGeom prst="roundRect">
            <a:avLst>
              <a:gd name="adj" fmla="val 13462"/>
            </a:avLst>
          </a:prstGeom>
          <a:solidFill>
            <a:srgbClr val="0D2A1C"/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395728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get_sentiment(ticker)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0" y="239572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main.gold.sentiment_summary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166360" y="2395728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BULLISH / NEUTRAL / BEARISH + confidence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2962656"/>
            <a:ext cx="6583680" cy="475488"/>
          </a:xfrm>
          <a:prstGeom prst="roundRect">
            <a:avLst>
              <a:gd name="adj" fmla="val 13462"/>
            </a:avLst>
          </a:prstGeom>
          <a:solidFill>
            <a:srgbClr val="0D2A1C"/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62656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compare_tickers(tickers[])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00400" y="296265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main.gold.ticker_daily_summary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166360" y="2962656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comparison of multiple stocks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3529584"/>
            <a:ext cx="6583680" cy="475488"/>
          </a:xfrm>
          <a:prstGeom prst="roundRect">
            <a:avLst>
              <a:gd name="adj" fmla="val 13462"/>
            </a:avLst>
          </a:prstGeom>
          <a:solidFill>
            <a:srgbClr val="0D2A1C"/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529584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get_top_movers(limit)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200400" y="3529584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main.gold.top_movers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166360" y="352958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GAINER / LOSER / FLAT ranked list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4096512"/>
            <a:ext cx="6583680" cy="475488"/>
          </a:xfrm>
          <a:prstGeom prst="roundRect">
            <a:avLst>
              <a:gd name="adj" fmla="val 13462"/>
            </a:avLst>
          </a:prstGeom>
          <a:solidFill>
            <a:srgbClr val="0D2A1C"/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9651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search_news(query)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200400" y="4096512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index (RAG)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166360" y="409651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over embedded news articles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4663440"/>
            <a:ext cx="6583680" cy="475488"/>
          </a:xfrm>
          <a:prstGeom prst="roundRect">
            <a:avLst>
              <a:gd name="adj" fmla="val 13462"/>
            </a:avLst>
          </a:prstGeom>
          <a:solidFill>
            <a:srgbClr val="0D2A1C"/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6344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flag_price_moves(hours)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200400" y="466344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main.gold.ticker_daily_summary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166360" y="4663440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notable moves ≥2% since last update ✨ NEW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452360" y="1261872"/>
            <a:ext cx="4617720" cy="411480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35240" y="1353312"/>
            <a:ext cx="4251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Tools (4)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589520" y="1828800"/>
            <a:ext cx="4297680" cy="594360"/>
          </a:xfrm>
          <a:prstGeom prst="roundRect">
            <a:avLst>
              <a:gd name="adj" fmla="val 10769"/>
            </a:avLst>
          </a:prstGeom>
          <a:solidFill>
            <a:srgbClr val="0A1A3A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26680" y="18288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add_to_watchlist(ticker, name)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6680" y="2103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ticker to named watchlist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589520" y="2560320"/>
            <a:ext cx="4297680" cy="594360"/>
          </a:xfrm>
          <a:prstGeom prst="roundRect">
            <a:avLst>
              <a:gd name="adj" fmla="val 10769"/>
            </a:avLst>
          </a:prstGeom>
          <a:solidFill>
            <a:srgbClr val="0A1A3A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6680" y="2560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remove_from_watchlist(ticker)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726680" y="28346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ticker from watchlist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3291840"/>
            <a:ext cx="4297680" cy="594360"/>
          </a:xfrm>
          <a:prstGeom prst="roundRect">
            <a:avLst>
              <a:gd name="adj" fmla="val 10769"/>
            </a:avLst>
          </a:prstGeom>
          <a:solidFill>
            <a:srgbClr val="0A1A3A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26680" y="32918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save_research_note(ticker, note)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26680" y="3566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user research note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589520" y="4023360"/>
            <a:ext cx="4297680" cy="594360"/>
          </a:xfrm>
          <a:prstGeom prst="roundRect">
            <a:avLst>
              <a:gd name="adj" fmla="val 10769"/>
            </a:avLst>
          </a:prstGeom>
          <a:solidFill>
            <a:srgbClr val="0A1A3A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26680" y="4023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save_analysis_report(ticker, text)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726680" y="42976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agent-generated report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65760" y="5486400"/>
            <a:ext cx="11704320" cy="1051560"/>
          </a:xfrm>
          <a:prstGeom prst="roundRect">
            <a:avLst>
              <a:gd name="adj" fmla="val 10435"/>
            </a:avLst>
          </a:prstGeom>
          <a:solidFill>
            <a:srgbClr val="162032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5577840"/>
            <a:ext cx="11338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Loop:  User query  →  LLM picks tools  →  Execute tool  →  Result back to LLM  →  Repeat (max 5 rounds)  →  Final response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48640" y="5989320"/>
            <a:ext cx="11338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Confirmed: Apple price $303.42  ·  NVDA vs MSFT comparison  ·  Top movers META +4.98%  ·  News RAG  ·  Watchlist writes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RAG — Databricks AI Search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94944"/>
            <a:ext cx="11247120" cy="22860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5303520" cy="5029200"/>
          </a:xfrm>
          <a:prstGeom prst="roundRect">
            <a:avLst>
              <a:gd name="adj" fmla="val 2182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05840"/>
            <a:ext cx="4937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Context Engineering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main.silver.news_articles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search_text field (concatenated for richer context):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162032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  |  headline  |  article description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9992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0A1A2A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3375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"NVDA | 3 Genius AI Stocks to Buy Right Now | Nvidia, Amazon, and Meta are well-positioned to benefit from AI..."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413308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concatenate?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4805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 alone has no semantic meaning.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alone misses company context.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gives the model signal for queries like: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'AI technology companies with strong GPU demand'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5806440" cy="5029200"/>
          </a:xfrm>
          <a:prstGeom prst="roundRect">
            <a:avLst>
              <a:gd name="adj" fmla="val 2182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005840"/>
            <a:ext cx="5486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6-Step RAG Pipeline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126480" y="1572768"/>
            <a:ext cx="384048" cy="384048"/>
          </a:xfrm>
          <a:prstGeom prst="ellipse">
            <a:avLst/>
          </a:prstGeom>
          <a:solidFill>
            <a:srgbClr val="6366F1">
              <a:alpha val="7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5727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01968" y="15727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news_for_search table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28432" y="157276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news + CDF enabled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auto-sync with AI Search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2231136"/>
            <a:ext cx="384048" cy="384048"/>
          </a:xfrm>
          <a:prstGeom prst="ellipse">
            <a:avLst/>
          </a:prstGeom>
          <a:solidFill>
            <a:srgbClr val="6366F1">
              <a:alpha val="7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2311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01968" y="2231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created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28432" y="223113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stock-assistant-vs (Standard)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AI Search (formerly VS)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2889504"/>
            <a:ext cx="384048" cy="384048"/>
          </a:xfrm>
          <a:prstGeom prst="ellipse">
            <a:avLst/>
          </a:prstGeom>
          <a:solidFill>
            <a:srgbClr val="6366F1">
              <a:alpha val="7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28895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01968" y="2889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Sync index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28432" y="288950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pipeline · BGE Large model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main.silver.news_for_search_index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3547872"/>
            <a:ext cx="384048" cy="384048"/>
          </a:xfrm>
          <a:prstGeom prst="ellipse">
            <a:avLst/>
          </a:prstGeom>
          <a:solidFill>
            <a:srgbClr val="6366F1">
              <a:alpha val="7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3547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01968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syncs via CDF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028432" y="354787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articles auto-indexed daily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task 4 triggers sync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26480" y="4206240"/>
            <a:ext cx="384048" cy="384048"/>
          </a:xfrm>
          <a:prstGeom prst="ellipse">
            <a:avLst/>
          </a:prstGeom>
          <a:solidFill>
            <a:srgbClr val="6366F1">
              <a:alpha val="7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4206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601968" y="42062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similarity_search()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028432" y="42062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with natural language query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top-k semantically similar articles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26480" y="4864608"/>
            <a:ext cx="384048" cy="384048"/>
          </a:xfrm>
          <a:prstGeom prst="ellipse">
            <a:avLst/>
          </a:prstGeom>
          <a:solidFill>
            <a:srgbClr val="6366F1">
              <a:alpha val="7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0" y="48646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601968" y="48646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context injected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028432" y="486460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inserted into LLM prompt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Grounds response in real current news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App — Live Frontend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94944"/>
            <a:ext cx="11247120" cy="22860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868680"/>
            <a:ext cx="7772400" cy="5303520"/>
          </a:xfrm>
          <a:prstGeom prst="roundRect">
            <a:avLst>
              <a:gd name="adj" fmla="val 2069"/>
            </a:avLst>
          </a:prstGeom>
          <a:solidFill>
            <a:srgbClr val="0D1220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868680"/>
            <a:ext cx="1645920" cy="5303520"/>
          </a:xfrm>
          <a:prstGeom prst="rect">
            <a:avLst/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875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84048" y="1316736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316736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 Apple stock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4048" y="1892808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189280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Top movers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84048" y="2468880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46888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MSFT vs NVDA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84048" y="3044952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04495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AI stocks news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84048" y="3621024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621024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Add to watchlist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" y="4197096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" y="4197096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Notable moves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84048" y="4773168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" y="477316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Sector view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084832" y="1005840"/>
            <a:ext cx="5897880" cy="365760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143000"/>
            <a:ext cx="2926080" cy="594360"/>
          </a:xfrm>
          <a:prstGeom prst="roundRect">
            <a:avLst>
              <a:gd name="adj" fmla="val 230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114300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today's top gainers?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176272" y="1901952"/>
            <a:ext cx="4389120" cy="8229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67712" y="1901952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gainers: META +4.98% · NVDA +4.53% · GOOGL +2.56% · MSFT +2.48%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loser: AAPL -1.99%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2852928"/>
            <a:ext cx="3108960" cy="594360"/>
          </a:xfrm>
          <a:prstGeom prst="roundRect">
            <a:avLst>
              <a:gd name="adj" fmla="val 230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36592" y="285292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any notable price moves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176272" y="3584448"/>
            <a:ext cx="4572000" cy="8229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67712" y="3584448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notable moves detected (≥2%): META +4.98% BULLISH · NVDA +4.53% BULLISH · AAPL -1.99% NEUTRAL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084832" y="4846320"/>
            <a:ext cx="5074920" cy="402336"/>
          </a:xfrm>
          <a:prstGeom prst="roundRect">
            <a:avLst>
              <a:gd name="adj" fmla="val 227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76272" y="4846320"/>
            <a:ext cx="4892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Stock Assistant...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205472" y="481888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05472" y="4818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868680"/>
            <a:ext cx="3794760" cy="5303520"/>
          </a:xfrm>
          <a:prstGeom prst="roundRect">
            <a:avLst>
              <a:gd name="adj" fmla="val 2892"/>
            </a:avLst>
          </a:prstGeom>
          <a:solidFill>
            <a:srgbClr val="0A0F1A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98755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SUMMARY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8458200" y="1353312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🟢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759952" y="1353312"/>
            <a:ext cx="731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528048" y="135331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$590.24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479024" y="1353312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+4.98%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458200" y="1773936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🟢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759952" y="1773936"/>
            <a:ext cx="731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528048" y="177393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$206.64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479024" y="1773936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+4.53%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458200" y="2194560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🟢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759952" y="2194560"/>
            <a:ext cx="731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528048" y="2194560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$377.65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0479024" y="219456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+2.56%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58200" y="2615184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🟢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759952" y="2615184"/>
            <a:ext cx="731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MSFT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528048" y="261518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$492.81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479024" y="261518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+2.48%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458200" y="3035808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🟢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759952" y="3035808"/>
            <a:ext cx="731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AAPL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528048" y="303580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$303.42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479024" y="3035808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-1.99%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8458200" y="3493008"/>
            <a:ext cx="3566160" cy="347472"/>
          </a:xfrm>
          <a:prstGeom prst="roundRect">
            <a:avLst>
              <a:gd name="adj" fmla="val 18421"/>
            </a:avLst>
          </a:prstGeom>
          <a:solidFill>
            <a:srgbClr val="1E293B"/>
          </a:solidFill>
          <a:ln w="12700">
            <a:solidFill>
              <a:srgbClr val="475569">
                <a:alpha val="60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458200" y="349300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Refresh Market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458200" y="39776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458200" y="429768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MSFT  —  Tech Watchlist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58200" y="466344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AAPL  —  Tech Watchlist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8458200" y="502920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NVDA  —  My Watchlist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320040" y="6236208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Databricks Apps  ·  7 suggestions · Blue/dark chat bubbles  ·  Enter to send  ·  Market + Watchlist sidebar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Lakebase (Postgres 17) + CDF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94944"/>
            <a:ext cx="11247120" cy="22860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5303520" cy="5029200"/>
          </a:xfrm>
          <a:prstGeom prst="roundRect">
            <a:avLst>
              <a:gd name="adj" fmla="val 2182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87552"/>
            <a:ext cx="4937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8 Lakebase Tables (Spec-compliant)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029200" cy="438912"/>
          </a:xfrm>
          <a:prstGeom prst="roundRect">
            <a:avLst>
              <a:gd name="adj" fmla="val 12500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0876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514600" y="1508760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2039112"/>
            <a:ext cx="5029200" cy="438912"/>
          </a:xfrm>
          <a:prstGeom prst="roundRect">
            <a:avLst>
              <a:gd name="adj" fmla="val 12500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03911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514600" y="2039112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watchlists per user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569464"/>
            <a:ext cx="5029200" cy="438912"/>
          </a:xfrm>
          <a:prstGeom prst="roundRect">
            <a:avLst>
              <a:gd name="adj" fmla="val 12500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56946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watchlist_tickers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514600" y="2569464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Tickers per watchlist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3099816"/>
            <a:ext cx="5029200" cy="438912"/>
          </a:xfrm>
          <a:prstGeom prst="roundRect">
            <a:avLst>
              <a:gd name="adj" fmla="val 12500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099816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514600" y="3099816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— market cap, sector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3630168"/>
            <a:ext cx="5029200" cy="438912"/>
          </a:xfrm>
          <a:prstGeom prst="roundRect">
            <a:avLst>
              <a:gd name="adj" fmla="val 12500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630168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price_snapshots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14600" y="3630168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OHLCV per ticker per timestamp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4160520"/>
            <a:ext cx="5029200" cy="438912"/>
          </a:xfrm>
          <a:prstGeom prst="roundRect">
            <a:avLst>
              <a:gd name="adj" fmla="val 12500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16052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news_articles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514600" y="4160520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news (also embedded for RAG)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4690872"/>
            <a:ext cx="5029200" cy="438912"/>
          </a:xfrm>
          <a:prstGeom prst="roundRect">
            <a:avLst>
              <a:gd name="adj" fmla="val 12500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9087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research_notes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514600" y="4690872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User-authored notes per ticker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5221224"/>
            <a:ext cx="5029200" cy="438912"/>
          </a:xfrm>
          <a:prstGeom prst="roundRect">
            <a:avLst>
              <a:gd name="adj" fmla="val 12500"/>
            </a:avLst>
          </a:prstGeom>
          <a:solidFill>
            <a:srgbClr val="162032"/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22122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analysis_reports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514600" y="5221224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Agent-generated reports per session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89320" y="914400"/>
            <a:ext cx="5806440" cy="5029200"/>
          </a:xfrm>
          <a:prstGeom prst="roundRect">
            <a:avLst>
              <a:gd name="adj" fmla="val 2182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0" y="987552"/>
            <a:ext cx="5486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CDF → Delta Analytics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26480" y="148132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INSERT/UPDATE/DELETE at row level from Silver Delta tables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26480" y="1920240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162032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1920240"/>
            <a:ext cx="868680" cy="822960"/>
          </a:xfrm>
          <a:prstGeom prst="roundRect">
            <a:avLst>
              <a:gd name="adj" fmla="val 8889"/>
            </a:avLst>
          </a:prstGeom>
          <a:solidFill>
            <a:srgbClr val="3B82F6">
              <a:alpha val="3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0" y="1920240"/>
            <a:ext cx="868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059168" y="1920240"/>
            <a:ext cx="44622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 TABLE ... SET TBLPROPERTIES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(delta.enableChangeDataFeed = true)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26480" y="2907792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162032"/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0" y="2907792"/>
            <a:ext cx="868680" cy="822960"/>
          </a:xfrm>
          <a:prstGeom prst="roundRect">
            <a:avLst>
              <a:gd name="adj" fmla="val 8889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0" y="2907792"/>
            <a:ext cx="868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59168" y="2907792"/>
            <a:ext cx="44622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spark.read.format('delta')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.option('readChangeFeed','true')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.option('startingVersion', 0)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126480" y="3895344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162032"/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0" y="3895344"/>
            <a:ext cx="868680" cy="822960"/>
          </a:xfrm>
          <a:prstGeom prst="roundRect">
            <a:avLst>
              <a:gd name="adj" fmla="val 8889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0" y="3895344"/>
            <a:ext cx="868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059168" y="3895344"/>
            <a:ext cx="44622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main.analytics.cdf_events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· ticker · source_table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commit_version · commit_ts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26480" y="4882896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162032"/>
          </a:solidFill>
          <a:ln w="12700">
            <a:solidFill>
              <a:srgbClr val="6366F1">
                <a:alpha val="5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26480" y="4882896"/>
            <a:ext cx="868680" cy="822960"/>
          </a:xfrm>
          <a:prstGeom prst="roundRect">
            <a:avLst>
              <a:gd name="adj" fmla="val 8889"/>
            </a:avLst>
          </a:prstGeom>
          <a:solidFill>
            <a:srgbClr val="6366F1">
              <a:alpha val="30000"/>
            </a:srgbClr>
          </a:solidFill>
          <a:ln w="12700">
            <a:solidFill>
              <a:srgbClr val="6366F1">
                <a:alpha val="3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26480" y="4882896"/>
            <a:ext cx="868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59168" y="4882896"/>
            <a:ext cx="44622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main.analytics.cdf_summary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by source_table+operation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event_count · first/last timestamps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126480" y="58338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CDF events captured · 3 Silver tables · confirmed working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Tracked Tickers — 5 Sectors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94944"/>
            <a:ext cx="11247120" cy="22860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2148840" cy="457200"/>
          </a:xfrm>
          <a:prstGeom prst="rect">
            <a:avLst/>
          </a:prstGeom>
          <a:solidFill>
            <a:srgbClr val="2563EB">
              <a:alpha val="8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60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0876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AAPL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14884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78892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42900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42900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MSFT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06908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24912" y="960120"/>
            <a:ext cx="2148840" cy="457200"/>
          </a:xfrm>
          <a:prstGeom prst="rect">
            <a:avLst/>
          </a:prstGeom>
          <a:solidFill>
            <a:srgbClr val="7C3AED">
              <a:alpha val="8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24912" y="960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16352" y="150876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16352" y="150876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816352" y="214884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16352" y="214884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816352" y="278892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16352" y="278892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JPM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816352" y="342900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816352" y="342900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816352" y="406908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816352" y="406908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084064" y="960120"/>
            <a:ext cx="2148840" cy="457200"/>
          </a:xfrm>
          <a:prstGeom prst="rect">
            <a:avLst/>
          </a:prstGeom>
          <a:solidFill>
            <a:srgbClr val="059669">
              <a:alpha val="8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84064" y="960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175504" y="150876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059669">
              <a:alpha val="15000"/>
            </a:srgbClr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75504" y="150876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ABBV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175504" y="214884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059669">
              <a:alpha val="15000"/>
            </a:srgbClr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75504" y="214884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JNJ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175504" y="278892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059669">
              <a:alpha val="15000"/>
            </a:srgbClr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75504" y="278892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MRK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175504" y="342900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059669">
              <a:alpha val="15000"/>
            </a:srgbClr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75504" y="342900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175504" y="406908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059669">
              <a:alpha val="15000"/>
            </a:srgbClr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75504" y="406908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43216" y="960120"/>
            <a:ext cx="2148840" cy="457200"/>
          </a:xfrm>
          <a:prstGeom prst="rect">
            <a:avLst/>
          </a:prstGeom>
          <a:solidFill>
            <a:srgbClr val="D97706">
              <a:alpha val="80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43216" y="960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534656" y="150876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534656" y="150876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AMZN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534656" y="214884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34656" y="214884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TSLA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534656" y="278892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34656" y="278892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WMT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9802368" y="960120"/>
            <a:ext cx="2148840" cy="457200"/>
          </a:xfrm>
          <a:prstGeom prst="rect">
            <a:avLst/>
          </a:prstGeom>
          <a:solidFill>
            <a:srgbClr val="DC2626">
              <a:alpha val="80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802368" y="960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9893808" y="150876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DC2626">
              <a:alpha val="15000"/>
            </a:srgbClr>
          </a:solidFill>
          <a:ln w="12700">
            <a:solidFill>
              <a:srgbClr val="DC2626">
                <a:alpha val="40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893808" y="150876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9893808" y="2148840"/>
            <a:ext cx="1965960" cy="530352"/>
          </a:xfrm>
          <a:prstGeom prst="roundRect">
            <a:avLst>
              <a:gd name="adj" fmla="val 13793"/>
            </a:avLst>
          </a:prstGeom>
          <a:solidFill>
            <a:srgbClr val="DC2626">
              <a:alpha val="15000"/>
            </a:srgbClr>
          </a:solidFill>
          <a:ln w="12700">
            <a:solidFill>
              <a:srgbClr val="DC2626">
                <a:alpha val="4000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93808" y="214884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XOM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365760" y="4709160"/>
            <a:ext cx="11430000" cy="1371600"/>
          </a:xfrm>
          <a:prstGeom prst="roundRect">
            <a:avLst>
              <a:gd name="adj" fmla="val 8000"/>
            </a:avLst>
          </a:prstGeom>
          <a:solidFill>
            <a:srgbClr val="162032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48640" y="4800600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main.config.ticker_config  — Managed via Unity Catalog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548640" y="51846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Add/remove tickers without code changes  ·  SQL: UPDATE main.config.ticker_config SET active = true WHERE sector = 'Finance'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48640" y="550468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tickers active · 5 sectors · Free tier: all 20 ingested in ~13 min/run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Daily Pipeline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94944"/>
            <a:ext cx="11247120" cy="22860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stock-assistant-daily-pipeline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2697480" cy="2011680"/>
          </a:xfrm>
          <a:prstGeom prst="roundRect">
            <a:avLst>
              <a:gd name="adj" fmla="val 5455"/>
            </a:avLst>
          </a:prstGeom>
          <a:solidFill>
            <a:srgbClr val="92400E"/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🥉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bronze_ingestion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697480"/>
            <a:ext cx="2697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API → Delta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tickers · ~13 min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54680" y="2103120"/>
            <a:ext cx="2377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01568" y="1508760"/>
            <a:ext cx="2697480" cy="2011680"/>
          </a:xfrm>
          <a:prstGeom prst="roundRect">
            <a:avLst>
              <a:gd name="adj" fmla="val 5455"/>
            </a:avLst>
          </a:prstGeom>
          <a:solidFill>
            <a:srgbClr val="374151"/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01568" y="160020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🥈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01568" y="228600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silver_transform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01568" y="2697480"/>
            <a:ext cx="2697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· Dedup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sec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99048" y="2103120"/>
            <a:ext cx="2377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345936" y="1508760"/>
            <a:ext cx="2697480" cy="2011680"/>
          </a:xfrm>
          <a:prstGeom prst="roundRect">
            <a:avLst>
              <a:gd name="adj" fmla="val 5455"/>
            </a:avLst>
          </a:prstGeom>
          <a:solidFill>
            <a:srgbClr val="78350F"/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45936" y="160020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🥇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45936" y="228600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gold_aggregates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45936" y="2697480"/>
            <a:ext cx="2697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analytics tables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sec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043416" y="2103120"/>
            <a:ext cx="2377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▶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290304" y="1508760"/>
            <a:ext cx="2697480" cy="2011680"/>
          </a:xfrm>
          <a:prstGeom prst="roundRect">
            <a:avLst>
              <a:gd name="adj" fmla="val 5455"/>
            </a:avLst>
          </a:prstGeom>
          <a:solidFill>
            <a:srgbClr val="3B2C5E"/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90304" y="160020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9290304" y="228600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sync_vs_index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90304" y="2697480"/>
            <a:ext cx="2697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sync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min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361188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bronze_ingestion → silver_transform → gold_aggregates → sync_vs_index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133088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162032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42245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 Schedule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4626864"/>
            <a:ext cx="2423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0 22 ? * MON-FRI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PM IST · after US market close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01568" y="4133088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162032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38728" y="42245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Compute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538728" y="4626864"/>
            <a:ext cx="2423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(all 4 tasks)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cluster management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5936" y="4133088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162032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83096" y="42245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Output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83096" y="4626864"/>
            <a:ext cx="2423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API calls · ~16 min total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data for all 20 tickers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290304" y="4133088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162032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27464" y="42245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🆓  Free Tier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427464" y="4626864"/>
            <a:ext cx="2423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720 calls/day vs 1,000 limit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within free plan quota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 Decisions &amp; Learnings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94944"/>
            <a:ext cx="11247120" cy="22860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3657600" cy="2395728"/>
          </a:xfrm>
          <a:prstGeom prst="roundRect">
            <a:avLst>
              <a:gd name="adj" fmla="val 4580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1097280"/>
            <a:ext cx="1005840" cy="274320"/>
          </a:xfrm>
          <a:prstGeom prst="roundRect">
            <a:avLst>
              <a:gd name="adj" fmla="val 20000"/>
            </a:avLst>
          </a:prstGeom>
          <a:solidFill>
            <a:srgbClr val="DC2626">
              <a:alpha val="60000"/>
            </a:srgbClr>
          </a:solidFill>
          <a:ln w="12700">
            <a:solidFill>
              <a:srgbClr val="DC2626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097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30352" y="143560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api.polygon.io over api.massive.com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1947672"/>
            <a:ext cx="33375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Massive.com blocked by Databricks Free Edition outbound filter. api.polygon.io works — same key, same endpoints, confirmed production.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960120"/>
            <a:ext cx="3657600" cy="2395728"/>
          </a:xfrm>
          <a:prstGeom prst="roundRect">
            <a:avLst>
              <a:gd name="adj" fmla="val 4580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62272" y="1097280"/>
            <a:ext cx="1005840" cy="274320"/>
          </a:xfrm>
          <a:prstGeom prst="roundRect">
            <a:avLst>
              <a:gd name="adj" fmla="val 20000"/>
            </a:avLst>
          </a:prstGeom>
          <a:solidFill>
            <a:srgbClr val="2563EB">
              <a:alpha val="60000"/>
            </a:srgbClr>
          </a:solidFill>
          <a:ln w="12700">
            <a:solidFill>
              <a:srgbClr val="2563EB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1097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462272" y="143560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type casting in Bronze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62272" y="1947672"/>
            <a:ext cx="33375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API returns volume as float in some tickers and int in others. Spark merge fails. Fix: explicit float()/int() casts on all numeric fields.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0" y="960120"/>
            <a:ext cx="3657600" cy="2395728"/>
          </a:xfrm>
          <a:prstGeom prst="roundRect">
            <a:avLst>
              <a:gd name="adj" fmla="val 4580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1097280"/>
            <a:ext cx="1005840" cy="274320"/>
          </a:xfrm>
          <a:prstGeom prst="roundRect">
            <a:avLst>
              <a:gd name="adj" fmla="val 20000"/>
            </a:avLst>
          </a:prstGeom>
          <a:solidFill>
            <a:srgbClr val="059669">
              <a:alpha val="60000"/>
            </a:srgbClr>
          </a:solidFill>
          <a:ln w="12700">
            <a:solidFill>
              <a:srgbClr val="059669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1097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43560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MAX(snapshot_date) in Gold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94192" y="1947672"/>
            <a:ext cx="33375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appends multiple dates. Silver keeps all correctly. Gold must filter to MAX(snapshot_date) per ticker before joining — else duplicates in App sidebar.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538728"/>
            <a:ext cx="3657600" cy="2395728"/>
          </a:xfrm>
          <a:prstGeom prst="roundRect">
            <a:avLst>
              <a:gd name="adj" fmla="val 4580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3675888"/>
            <a:ext cx="1005840" cy="274320"/>
          </a:xfrm>
          <a:prstGeom prst="roundRect">
            <a:avLst>
              <a:gd name="adj" fmla="val 20000"/>
            </a:avLst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6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" y="367588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0352" y="4014216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api_client.do() in App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0352" y="4526280"/>
            <a:ext cx="33375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DATABRICKS_TOKEN is empty at module import in Apps. OpenAI SDK needs explicit token at init. Fix: get_w().api_client.do() uses App's auto-injected auth.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97680" y="3538728"/>
            <a:ext cx="3657600" cy="2395728"/>
          </a:xfrm>
          <a:prstGeom prst="roundRect">
            <a:avLst>
              <a:gd name="adj" fmla="val 4580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62272" y="3675888"/>
            <a:ext cx="1005840" cy="274320"/>
          </a:xfrm>
          <a:prstGeom prst="roundRect">
            <a:avLst>
              <a:gd name="adj" fmla="val 20000"/>
            </a:avLst>
          </a:prstGeom>
          <a:solidFill>
            <a:srgbClr val="D97706">
              <a:alpha val="60000"/>
            </a:srgbClr>
          </a:solidFill>
          <a:ln w="12700">
            <a:solidFill>
              <a:srgbClr val="D97706">
                <a:alpha val="6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62272" y="367588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462272" y="4014216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CDF instead of Lakebase CDF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462272" y="4526280"/>
            <a:ext cx="33375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Lakebase psycopg2 requires OAuth JWT federation — not on Free Edition. Delta CDF is architecturally identical: both capture row-level changes. Fully working.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3538728"/>
            <a:ext cx="3657600" cy="2395728"/>
          </a:xfrm>
          <a:prstGeom prst="roundRect">
            <a:avLst>
              <a:gd name="adj" fmla="val 4580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94192" y="3675888"/>
            <a:ext cx="1005840" cy="274320"/>
          </a:xfrm>
          <a:prstGeom prst="roundRect">
            <a:avLst>
              <a:gd name="adj" fmla="val 20000"/>
            </a:avLst>
          </a:prstGeom>
          <a:solidFill>
            <a:srgbClr val="0891B2">
              <a:alpha val="60000"/>
            </a:srgbClr>
          </a:solidFill>
          <a:ln w="12700">
            <a:solidFill>
              <a:srgbClr val="0891B2">
                <a:alpha val="6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94192" y="367588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394192" y="4014216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tools vs spec's implied 8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94192" y="4526280"/>
            <a:ext cx="33375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listed 6 capabilities. Implemented all 6 plus broke them into 10 precise tools including remove_from_watchlist and flag_price_moves for completeness.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Demonstrated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94944"/>
            <a:ext cx="11247120" cy="22860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5623560" cy="150876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164592" cy="15087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43000"/>
            <a:ext cx="5074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Architecture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Bronze→Silver→Gold on Delta Lake with PySpark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data pipeline design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960120"/>
            <a:ext cx="5623560" cy="150876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960120"/>
            <a:ext cx="164592" cy="1508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143000"/>
            <a:ext cx="5074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Catalog Governance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160020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· secret scopes · grants · ticker registry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data governance on Databricks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651760"/>
            <a:ext cx="5623560" cy="150876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651760"/>
            <a:ext cx="164592" cy="15087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34640"/>
            <a:ext cx="5074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 Large embeddings + Databricks AI Search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Cutting-edge NLP on real financial news data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2651760"/>
            <a:ext cx="5623560" cy="150876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3640" y="2651760"/>
            <a:ext cx="164592" cy="1508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2834640"/>
            <a:ext cx="5074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— 10 Tools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329184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 · function calling · 5-round loop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read + 4 write tools — all spec requirements met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343400"/>
            <a:ext cx="5623560" cy="150876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4343400"/>
            <a:ext cx="164592" cy="1508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526280"/>
            <a:ext cx="5074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Orchestration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" y="498348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Multi-task DAG · cron scheduling · serverless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daily pipeline production-ready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4343400"/>
            <a:ext cx="5623560" cy="150876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63640" y="4343400"/>
            <a:ext cx="164592" cy="1508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0" y="4526280"/>
            <a:ext cx="5074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Deployment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498348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Databricks App · 3-column Gradio UI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market data · chat interface · demo-ready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5943600"/>
            <a:ext cx="11430000" cy="658368"/>
          </a:xfrm>
          <a:prstGeom prst="roundRect">
            <a:avLst>
              <a:gd name="adj" fmla="val 16667"/>
            </a:avLst>
          </a:prstGeom>
          <a:solidFill>
            <a:srgbClr val="162032"/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9893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github.com/demonjd2026-afk/ai-stock-research-assistant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2910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linkedin.com/in/jayanth-dolai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0" y="5989320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Jayanth Dolai — Senior Data Engineer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2026-08-05T09:12:56Z</dcterms:created>
  <dcterms:modified xsi:type="dcterms:W3CDTF">2026-08-05T09:12:57Z</dcterms:modified>
</cp:coreProperties>
</file>